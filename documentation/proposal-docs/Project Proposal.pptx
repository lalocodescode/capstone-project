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Proxima Nova"/>
      <p:regular r:id="rId17"/>
      <p:bold r:id="rId18"/>
      <p:italic r:id="rId19"/>
      <p:boldItalic r:id="rId20"/>
    </p:embeddedFont>
    <p:embeddedFont>
      <p:font typeface="Alfa Slab One"/>
      <p:regular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AlfaSlabOne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roximaNova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roximaNova-italic.fntdata"/><Relationship Id="rId6" Type="http://schemas.openxmlformats.org/officeDocument/2006/relationships/slide" Target="slides/slide1.xml"/><Relationship Id="rId18" Type="http://schemas.openxmlformats.org/officeDocument/2006/relationships/font" Target="fonts/ProximaNova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c6f90357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c6f9035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c6f90357f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c6f90357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c6f90357f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c6f90357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c6f90357f_0_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c6f90357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7eb005b04_0_4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7eb005b04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8d8b03d2e_0_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b8d8b03d2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c6f90357f_0_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c6f90357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c6f90357f_0_2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c6f90357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c6f90357f_0_3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c6f90357f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8d8b03d2e_0_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8d8b03d2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8d8b03d2e_0_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b8d8b03d2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NomNom Bot</a:t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Eduardo Herrera-Barraza, Jared Martinez Sanchez, Lily Nguyen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490250" y="526350"/>
            <a:ext cx="37959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NomNom Bot?</a:t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4678125" y="759275"/>
            <a:ext cx="4016700" cy="39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2"/>
                </a:solidFill>
                <a:latin typeface="Alfa Slab One"/>
                <a:ea typeface="Alfa Slab One"/>
                <a:cs typeface="Alfa Slab One"/>
                <a:sym typeface="Alfa Slab One"/>
              </a:rPr>
              <a:t>GOAL: </a:t>
            </a:r>
            <a:r>
              <a:rPr lang="en" sz="1900">
                <a:solidFill>
                  <a:schemeClr val="dk2"/>
                </a:solidFill>
                <a:latin typeface="Alfa Slab One"/>
                <a:ea typeface="Alfa Slab One"/>
                <a:cs typeface="Alfa Slab One"/>
                <a:sym typeface="Alfa Slab One"/>
              </a:rPr>
              <a:t>Help </a:t>
            </a:r>
            <a:r>
              <a:rPr lang="en" sz="1900">
                <a:solidFill>
                  <a:schemeClr val="dk2"/>
                </a:solidFill>
                <a:latin typeface="Alfa Slab One"/>
                <a:ea typeface="Alfa Slab One"/>
                <a:cs typeface="Alfa Slab One"/>
                <a:sym typeface="Alfa Slab One"/>
              </a:rPr>
              <a:t>busy</a:t>
            </a:r>
            <a:r>
              <a:rPr lang="en" sz="1900">
                <a:solidFill>
                  <a:schemeClr val="dk2"/>
                </a:solidFill>
                <a:latin typeface="Alfa Slab One"/>
                <a:ea typeface="Alfa Slab One"/>
                <a:cs typeface="Alfa Slab One"/>
                <a:sym typeface="Alfa Slab One"/>
              </a:rPr>
              <a:t> college students with making </a:t>
            </a:r>
            <a:r>
              <a:rPr lang="en" sz="1900">
                <a:solidFill>
                  <a:schemeClr val="dk2"/>
                </a:solidFill>
                <a:latin typeface="Alfa Slab One"/>
                <a:ea typeface="Alfa Slab One"/>
                <a:cs typeface="Alfa Slab One"/>
                <a:sym typeface="Alfa Slab One"/>
              </a:rPr>
              <a:t>homemade</a:t>
            </a:r>
            <a:r>
              <a:rPr lang="en" sz="1900">
                <a:solidFill>
                  <a:schemeClr val="dk2"/>
                </a:solidFill>
                <a:latin typeface="Alfa Slab One"/>
                <a:ea typeface="Alfa Slab One"/>
                <a:cs typeface="Alfa Slab One"/>
                <a:sym typeface="Alfa Slab One"/>
              </a:rPr>
              <a:t> </a:t>
            </a:r>
            <a:r>
              <a:rPr lang="en" sz="1900">
                <a:solidFill>
                  <a:schemeClr val="dk2"/>
                </a:solidFill>
                <a:latin typeface="Alfa Slab One"/>
                <a:ea typeface="Alfa Slab One"/>
                <a:cs typeface="Alfa Slab One"/>
                <a:sym typeface="Alfa Slab One"/>
              </a:rPr>
              <a:t>meals</a:t>
            </a:r>
            <a:r>
              <a:rPr lang="en" sz="1900">
                <a:solidFill>
                  <a:schemeClr val="dk2"/>
                </a:solidFill>
                <a:latin typeface="Alfa Slab One"/>
                <a:ea typeface="Alfa Slab One"/>
                <a:cs typeface="Alfa Slab One"/>
                <a:sym typeface="Alfa Slab One"/>
              </a:rPr>
              <a:t> in quick time and </a:t>
            </a:r>
            <a:r>
              <a:rPr lang="en" sz="1900">
                <a:solidFill>
                  <a:schemeClr val="dk2"/>
                </a:solidFill>
                <a:latin typeface="Alfa Slab One"/>
                <a:ea typeface="Alfa Slab One"/>
                <a:cs typeface="Alfa Slab One"/>
                <a:sym typeface="Alfa Slab One"/>
              </a:rPr>
              <a:t>with</a:t>
            </a:r>
            <a:r>
              <a:rPr lang="en" sz="1900">
                <a:solidFill>
                  <a:schemeClr val="dk2"/>
                </a:solidFill>
                <a:latin typeface="Alfa Slab One"/>
                <a:ea typeface="Alfa Slab One"/>
                <a:cs typeface="Alfa Slab One"/>
                <a:sym typeface="Alfa Slab One"/>
              </a:rPr>
              <a:t> ease.</a:t>
            </a:r>
            <a:endParaRPr sz="1900">
              <a:solidFill>
                <a:schemeClr val="dk2"/>
              </a:solidFill>
              <a:latin typeface="Alfa Slab One"/>
              <a:ea typeface="Alfa Slab One"/>
              <a:cs typeface="Alfa Slab One"/>
              <a:sym typeface="Alfa Slab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2"/>
              </a:solidFill>
              <a:latin typeface="Alfa Slab One"/>
              <a:ea typeface="Alfa Slab One"/>
              <a:cs typeface="Alfa Slab One"/>
              <a:sym typeface="Alfa Slab On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fa Slab One"/>
              <a:buChar char="●"/>
            </a:pPr>
            <a:r>
              <a:rPr lang="en">
                <a:solidFill>
                  <a:schemeClr val="dk2"/>
                </a:solidFill>
                <a:latin typeface="Alfa Slab One"/>
                <a:ea typeface="Alfa Slab One"/>
                <a:cs typeface="Alfa Slab One"/>
                <a:sym typeface="Alfa Slab One"/>
              </a:rPr>
              <a:t>Geared towards college students</a:t>
            </a:r>
            <a:endParaRPr>
              <a:solidFill>
                <a:schemeClr val="dk2"/>
              </a:solidFill>
              <a:latin typeface="Alfa Slab One"/>
              <a:ea typeface="Alfa Slab One"/>
              <a:cs typeface="Alfa Slab One"/>
              <a:sym typeface="Alfa Slab On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fa Slab One"/>
              <a:buChar char="●"/>
            </a:pPr>
            <a:r>
              <a:rPr lang="en">
                <a:solidFill>
                  <a:schemeClr val="dk2"/>
                </a:solidFill>
                <a:latin typeface="Alfa Slab One"/>
                <a:ea typeface="Alfa Slab One"/>
                <a:cs typeface="Alfa Slab One"/>
                <a:sym typeface="Alfa Slab One"/>
              </a:rPr>
              <a:t>AI chatbot</a:t>
            </a:r>
            <a:endParaRPr>
              <a:solidFill>
                <a:schemeClr val="dk2"/>
              </a:solidFill>
              <a:latin typeface="Alfa Slab One"/>
              <a:ea typeface="Alfa Slab One"/>
              <a:cs typeface="Alfa Slab One"/>
              <a:sym typeface="Alfa Slab On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fa Slab One"/>
              <a:buChar char="●"/>
            </a:pPr>
            <a:r>
              <a:rPr lang="en">
                <a:solidFill>
                  <a:schemeClr val="dk2"/>
                </a:solidFill>
                <a:latin typeface="Alfa Slab One"/>
                <a:ea typeface="Alfa Slab One"/>
                <a:cs typeface="Alfa Slab One"/>
                <a:sym typeface="Alfa Slab One"/>
              </a:rPr>
              <a:t>Provides step by step cooking directions, needed ingredients and nutrition facts</a:t>
            </a:r>
            <a:endParaRPr>
              <a:solidFill>
                <a:schemeClr val="dk2"/>
              </a:solidFill>
              <a:latin typeface="Alfa Slab One"/>
              <a:ea typeface="Alfa Slab One"/>
              <a:cs typeface="Alfa Slab One"/>
              <a:sym typeface="Alfa Slab On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fa Slab One"/>
              <a:buChar char="●"/>
            </a:pPr>
            <a:r>
              <a:rPr lang="en">
                <a:solidFill>
                  <a:schemeClr val="dk2"/>
                </a:solidFill>
                <a:latin typeface="Alfa Slab One"/>
                <a:ea typeface="Alfa Slab One"/>
                <a:cs typeface="Alfa Slab One"/>
                <a:sym typeface="Alfa Slab One"/>
              </a:rPr>
              <a:t>Like texting your own </a:t>
            </a:r>
            <a:r>
              <a:rPr lang="en">
                <a:solidFill>
                  <a:schemeClr val="dk2"/>
                </a:solidFill>
                <a:latin typeface="Alfa Slab One"/>
                <a:ea typeface="Alfa Slab One"/>
                <a:cs typeface="Alfa Slab One"/>
                <a:sym typeface="Alfa Slab One"/>
              </a:rPr>
              <a:t>personal</a:t>
            </a:r>
            <a:r>
              <a:rPr lang="en">
                <a:solidFill>
                  <a:schemeClr val="dk2"/>
                </a:solidFill>
                <a:latin typeface="Alfa Slab One"/>
                <a:ea typeface="Alfa Slab One"/>
                <a:cs typeface="Alfa Slab One"/>
                <a:sym typeface="Alfa Slab One"/>
              </a:rPr>
              <a:t> chef</a:t>
            </a:r>
            <a:endParaRPr>
              <a:solidFill>
                <a:schemeClr val="dk2"/>
              </a:solidFill>
              <a:latin typeface="Alfa Slab One"/>
              <a:ea typeface="Alfa Slab One"/>
              <a:cs typeface="Alfa Slab One"/>
              <a:sym typeface="Alfa Slab On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fa Slab One"/>
              <a:buChar char="●"/>
            </a:pPr>
            <a:r>
              <a:rPr lang="en">
                <a:solidFill>
                  <a:schemeClr val="dk2"/>
                </a:solidFill>
                <a:latin typeface="Alfa Slab One"/>
                <a:ea typeface="Alfa Slab One"/>
                <a:cs typeface="Alfa Slab One"/>
                <a:sym typeface="Alfa Slab One"/>
              </a:rPr>
              <a:t>Laravel </a:t>
            </a:r>
            <a:r>
              <a:rPr lang="en">
                <a:solidFill>
                  <a:schemeClr val="dk2"/>
                </a:solidFill>
                <a:latin typeface="Alfa Slab One"/>
                <a:ea typeface="Alfa Slab One"/>
                <a:cs typeface="Alfa Slab One"/>
                <a:sym typeface="Alfa Slab One"/>
              </a:rPr>
              <a:t>framework</a:t>
            </a:r>
            <a:r>
              <a:rPr lang="en">
                <a:solidFill>
                  <a:schemeClr val="dk2"/>
                </a:solidFill>
                <a:latin typeface="Alfa Slab One"/>
                <a:ea typeface="Alfa Slab One"/>
                <a:cs typeface="Alfa Slab One"/>
                <a:sym typeface="Alfa Slab One"/>
              </a:rPr>
              <a:t> backend, React Native frontend, </a:t>
            </a:r>
            <a:r>
              <a:rPr lang="en">
                <a:solidFill>
                  <a:schemeClr val="dk2"/>
                </a:solidFill>
                <a:latin typeface="Alfa Slab One"/>
                <a:ea typeface="Alfa Slab One"/>
                <a:cs typeface="Alfa Slab One"/>
                <a:sym typeface="Alfa Slab One"/>
              </a:rPr>
              <a:t>PostgreSQL</a:t>
            </a:r>
            <a:r>
              <a:rPr lang="en">
                <a:solidFill>
                  <a:schemeClr val="dk2"/>
                </a:solidFill>
                <a:latin typeface="Alfa Slab One"/>
                <a:ea typeface="Alfa Slab One"/>
                <a:cs typeface="Alfa Slab One"/>
                <a:sym typeface="Alfa Slab One"/>
              </a:rPr>
              <a:t> database</a:t>
            </a:r>
            <a:endParaRPr>
              <a:solidFill>
                <a:schemeClr val="dk2"/>
              </a:solidFill>
              <a:latin typeface="Alfa Slab One"/>
              <a:ea typeface="Alfa Slab One"/>
              <a:cs typeface="Alfa Slab One"/>
              <a:sym typeface="Alfa Slab On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NomNom Bot Analysis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Functionality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&amp;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Usability</a:t>
            </a:r>
            <a:endParaRPr/>
          </a:p>
        </p:txBody>
      </p:sp>
      <p:sp>
        <p:nvSpPr>
          <p:cNvPr id="74" name="Google Shape;74;p16"/>
          <p:cNvSpPr txBox="1"/>
          <p:nvPr>
            <p:ph idx="2" type="body"/>
          </p:nvPr>
        </p:nvSpPr>
        <p:spPr>
          <a:xfrm>
            <a:off x="4939500" y="942975"/>
            <a:ext cx="3837000" cy="347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Chatbot, text like interface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User types food </a:t>
            </a:r>
            <a:r>
              <a:rPr lang="en"/>
              <a:t>related</a:t>
            </a:r>
            <a:r>
              <a:rPr lang="en"/>
              <a:t> questions and NomNom Bot will yield immediate response as a recipe or </a:t>
            </a:r>
            <a:r>
              <a:rPr lang="en"/>
              <a:t>associated</a:t>
            </a:r>
            <a:r>
              <a:rPr lang="en"/>
              <a:t> information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&amp;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Security</a:t>
            </a:r>
            <a:endParaRPr/>
          </a:p>
        </p:txBody>
      </p:sp>
      <p:sp>
        <p:nvSpPr>
          <p:cNvPr id="80" name="Google Shape;80;p17"/>
          <p:cNvSpPr txBox="1"/>
          <p:nvPr>
            <p:ph idx="2" type="body"/>
          </p:nvPr>
        </p:nvSpPr>
        <p:spPr>
          <a:xfrm>
            <a:off x="4861825" y="391875"/>
            <a:ext cx="4045200" cy="451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</a:t>
            </a:r>
            <a:r>
              <a:rPr lang="en"/>
              <a:t>ser accounts with specific roles and login credentials according to general user or developer/admin user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</a:t>
            </a:r>
            <a:r>
              <a:rPr lang="en"/>
              <a:t>ontent</a:t>
            </a:r>
            <a:r>
              <a:rPr lang="en"/>
              <a:t> filter to make sure users do not submit NSFW images, text, and or other malicious code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Specifications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399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Specifications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171450" y="1114425"/>
            <a:ext cx="4641600" cy="385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b="1" lang="en" sz="1700"/>
              <a:t>Focus/Domain/Area : </a:t>
            </a:r>
            <a:r>
              <a:rPr lang="en" sz="1700"/>
              <a:t>Target young adults in college that don’t have experience in cooking</a:t>
            </a:r>
            <a:endParaRPr sz="1700"/>
          </a:p>
          <a:p>
            <a:pPr indent="-3365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b="1" lang="en" sz="1700"/>
              <a:t>Libraries/Frameworks/Developmen</a:t>
            </a:r>
            <a:r>
              <a:rPr b="1" lang="en" sz="1700"/>
              <a:t>t: </a:t>
            </a:r>
            <a:r>
              <a:rPr lang="en" sz="1700"/>
              <a:t> </a:t>
            </a:r>
            <a:endParaRPr sz="170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Frontend Framework:</a:t>
            </a:r>
            <a:endParaRPr sz="1700"/>
          </a:p>
          <a:p>
            <a:pPr indent="45720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• Expo(React Native and Typescript)</a:t>
            </a:r>
            <a:endParaRPr sz="1700"/>
          </a:p>
          <a:p>
            <a:pPr indent="45720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• Navigation: Expo-Router</a:t>
            </a:r>
            <a:endParaRPr sz="1700"/>
          </a:p>
          <a:p>
            <a:pPr indent="45720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• UI/Styling: Tailwind CSS</a:t>
            </a:r>
            <a:endParaRPr sz="170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Backend Framework</a:t>
            </a:r>
            <a:r>
              <a:rPr lang="en" sz="1700"/>
              <a:t>:</a:t>
            </a:r>
            <a:endParaRPr sz="1700"/>
          </a:p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• Laravel(PHP)</a:t>
            </a:r>
            <a:endParaRPr sz="1700"/>
          </a:p>
          <a:p>
            <a:pPr indent="-3365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b="1" lang="en" sz="1700"/>
              <a:t>Platform: </a:t>
            </a:r>
            <a:r>
              <a:rPr lang="en" sz="1700"/>
              <a:t>Mobile</a:t>
            </a:r>
            <a:endParaRPr sz="1700"/>
          </a:p>
          <a:p>
            <a:pPr indent="-3365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b="1" lang="en" sz="1700"/>
              <a:t>Genre: </a:t>
            </a:r>
            <a:r>
              <a:rPr lang="en" sz="1700"/>
              <a:t>Mobile AI Chatbot Application</a:t>
            </a:r>
            <a:endParaRPr sz="1700"/>
          </a:p>
          <a:p>
            <a:pPr indent="-3365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b="1" lang="en" sz="1700"/>
              <a:t>Data Source: </a:t>
            </a:r>
            <a:r>
              <a:rPr lang="en" sz="1700"/>
              <a:t>OpenAI LLM</a:t>
            </a:r>
            <a:endParaRPr b="1" sz="1700"/>
          </a:p>
        </p:txBody>
      </p:sp>
      <p:pic>
        <p:nvPicPr>
          <p:cNvPr id="92" name="Google Shape;9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5188" y="342513"/>
            <a:ext cx="214312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48313" y="418638"/>
            <a:ext cx="1990888" cy="1990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48325" y="2409524"/>
            <a:ext cx="1990875" cy="1845618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9"/>
          <p:cNvPicPr preferRelativeResize="0"/>
          <p:nvPr/>
        </p:nvPicPr>
        <p:blipFill rotWithShape="1">
          <a:blip r:embed="rId6">
            <a:alphaModFix/>
          </a:blip>
          <a:srcRect b="10209" l="0" r="0" t="0"/>
          <a:stretch/>
        </p:blipFill>
        <p:spPr>
          <a:xfrm>
            <a:off x="4464000" y="2468575"/>
            <a:ext cx="2384325" cy="1727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Design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1" title="Screenshot 2026-01-18 at 1.53.37 PM.png"/>
          <p:cNvPicPr preferRelativeResize="0"/>
          <p:nvPr/>
        </p:nvPicPr>
        <p:blipFill rotWithShape="1">
          <a:blip r:embed="rId3">
            <a:alphaModFix/>
          </a:blip>
          <a:srcRect b="17092" l="10943" r="22931" t="29442"/>
          <a:stretch/>
        </p:blipFill>
        <p:spPr>
          <a:xfrm>
            <a:off x="187775" y="171450"/>
            <a:ext cx="8768451" cy="4812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 title="Screenshot 2026-01-18 at 1.56.08 PM.png"/>
          <p:cNvPicPr preferRelativeResize="0"/>
          <p:nvPr/>
        </p:nvPicPr>
        <p:blipFill rotWithShape="1">
          <a:blip r:embed="rId3">
            <a:alphaModFix/>
          </a:blip>
          <a:srcRect b="6213" l="23501" r="33425" t="28994"/>
          <a:stretch/>
        </p:blipFill>
        <p:spPr>
          <a:xfrm>
            <a:off x="183700" y="171450"/>
            <a:ext cx="8743951" cy="4812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2650" y="152400"/>
            <a:ext cx="4838701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3"/>
          <p:cNvSpPr txBox="1"/>
          <p:nvPr/>
        </p:nvSpPr>
        <p:spPr>
          <a:xfrm>
            <a:off x="7481125" y="208225"/>
            <a:ext cx="1114500" cy="10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Bye!</a:t>
            </a:r>
            <a:endParaRPr sz="3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7" name="Google Shape;117;p23"/>
          <p:cNvSpPr/>
          <p:nvPr/>
        </p:nvSpPr>
        <p:spPr>
          <a:xfrm>
            <a:off x="7272925" y="232675"/>
            <a:ext cx="1530900" cy="1016400"/>
          </a:xfrm>
          <a:prstGeom prst="wedgeEllipseCallout">
            <a:avLst>
              <a:gd fmla="val -128300" name="adj1"/>
              <a:gd fmla="val 66873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latin typeface="Proxima Nova"/>
                <a:ea typeface="Proxima Nova"/>
                <a:cs typeface="Proxima Nova"/>
                <a:sym typeface="Proxima Nova"/>
              </a:rPr>
              <a:t>Bye!</a:t>
            </a:r>
            <a:endParaRPr b="1" sz="29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