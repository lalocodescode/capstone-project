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Merriweath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Merriweather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boldItalic.fntdata"/><Relationship Id="rId30" Type="http://schemas.openxmlformats.org/officeDocument/2006/relationships/font" Target="fonts/Merriweath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8b310620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8b310620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977d1fff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977d1fff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b310620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8b310620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8b310620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8b310620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977d1fff1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977d1fff1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977d1fff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977d1fff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977d1fff1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977d1fff1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977d1fff1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977d1fff1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977d1fff1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977d1fff1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977d1fff1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977d1fff1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977d1fff1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977d1fff1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977d1fff1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977d1fff1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977d1fff1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977d1fff1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977d1fff1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977d1fff1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977d1fff1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977d1fff1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977d1fff1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977d1fff1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977d1fff1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977d1fff1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88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GenieMart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Eduardo Herrera-Baraza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Jared Martinez-Sanchez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Lily Nguyen</a:t>
            </a:r>
            <a:endParaRPr/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525" y="335400"/>
            <a:ext cx="4242601" cy="1406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539725"/>
            <a:ext cx="6527400" cy="8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445675" y="1367725"/>
            <a:ext cx="8135700" cy="3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AutoNum type="arabicPeriod"/>
            </a:pPr>
            <a:r>
              <a:rPr b="1" lang="en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GenieMart?</a:t>
            </a:r>
            <a:endParaRPr b="1"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-"/>
            </a:pPr>
            <a:r>
              <a:rPr b="1" lang="en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Project </a:t>
            </a:r>
            <a:r>
              <a:rPr b="1" lang="en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definition</a:t>
            </a:r>
            <a:endParaRPr b="1"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-"/>
            </a:pPr>
            <a:r>
              <a:rPr b="1" lang="en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goal</a:t>
            </a:r>
            <a:endParaRPr b="1"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-"/>
            </a:pPr>
            <a:r>
              <a:rPr b="1" lang="en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Significance </a:t>
            </a:r>
            <a:endParaRPr b="1"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AutoNum type="arabicPeriod"/>
            </a:pPr>
            <a:r>
              <a:rPr b="1" lang="en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It Was Accomplished</a:t>
            </a:r>
            <a:endParaRPr b="1"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-"/>
            </a:pPr>
            <a:r>
              <a:rPr b="1" lang="en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Tech Stack</a:t>
            </a:r>
            <a:endParaRPr b="1"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-"/>
            </a:pPr>
            <a:r>
              <a:rPr b="1" lang="en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Team workload</a:t>
            </a:r>
            <a:endParaRPr b="1"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-"/>
            </a:pPr>
            <a:r>
              <a:rPr b="1" lang="en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Problems we faced</a:t>
            </a:r>
            <a:endParaRPr b="1"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AutoNum type="arabicPeriod"/>
            </a:pPr>
            <a:r>
              <a:rPr b="1" lang="en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 Features/Use cases</a:t>
            </a:r>
            <a:endParaRPr b="1"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88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1790575" y="2267550"/>
            <a:ext cx="5334900" cy="60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What is GenieMart?</a:t>
            </a:r>
            <a:endParaRPr sz="3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411025" y="928400"/>
            <a:ext cx="36210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GenieMart?</a:t>
            </a:r>
            <a:endParaRPr/>
          </a:p>
        </p:txBody>
      </p:sp>
      <p:sp>
        <p:nvSpPr>
          <p:cNvPr id="83" name="Google Shape;83;p16"/>
          <p:cNvSpPr txBox="1"/>
          <p:nvPr>
            <p:ph idx="1" type="subTitle"/>
          </p:nvPr>
        </p:nvSpPr>
        <p:spPr>
          <a:xfrm>
            <a:off x="369325" y="1600900"/>
            <a:ext cx="3704400" cy="29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D966"/>
                </a:solidFill>
                <a:latin typeface="Merriweather"/>
                <a:ea typeface="Merriweather"/>
                <a:cs typeface="Merriweather"/>
                <a:sym typeface="Merriweather"/>
              </a:rPr>
              <a:t>Our goal: College </a:t>
            </a:r>
            <a:r>
              <a:rPr lang="en" sz="1500">
                <a:solidFill>
                  <a:srgbClr val="FFD966"/>
                </a:solidFill>
                <a:latin typeface="Merriweather"/>
                <a:ea typeface="Merriweather"/>
                <a:cs typeface="Merriweather"/>
                <a:sym typeface="Merriweather"/>
              </a:rPr>
              <a:t>students</a:t>
            </a:r>
            <a:r>
              <a:rPr lang="en" sz="1500">
                <a:solidFill>
                  <a:srgbClr val="FFD966"/>
                </a:solidFill>
                <a:latin typeface="Merriweather"/>
                <a:ea typeface="Merriweather"/>
                <a:cs typeface="Merriweather"/>
                <a:sym typeface="Merriweather"/>
              </a:rPr>
              <a:t> are always shopping online for furniture, clothes, school supplies etc. Platforms like Facebook Marketplace and Craigslisr that aren’t directly geared towards </a:t>
            </a:r>
            <a:r>
              <a:rPr lang="en" sz="1500">
                <a:solidFill>
                  <a:srgbClr val="FFD966"/>
                </a:solidFill>
                <a:latin typeface="Merriweather"/>
                <a:ea typeface="Merriweather"/>
                <a:cs typeface="Merriweather"/>
                <a:sym typeface="Merriweather"/>
              </a:rPr>
              <a:t>college</a:t>
            </a:r>
            <a:r>
              <a:rPr lang="en" sz="1500">
                <a:solidFill>
                  <a:srgbClr val="FFD966"/>
                </a:solidFill>
                <a:latin typeface="Merriweather"/>
                <a:ea typeface="Merriweather"/>
                <a:cs typeface="Merriweather"/>
                <a:sym typeface="Merriweather"/>
              </a:rPr>
              <a:t> communities are more prone to scams, </a:t>
            </a:r>
            <a:r>
              <a:rPr lang="en" sz="1500">
                <a:solidFill>
                  <a:srgbClr val="FFD966"/>
                </a:solidFill>
                <a:latin typeface="Merriweather"/>
                <a:ea typeface="Merriweather"/>
                <a:cs typeface="Merriweather"/>
                <a:sym typeface="Merriweather"/>
              </a:rPr>
              <a:t>unreliable</a:t>
            </a:r>
            <a:r>
              <a:rPr lang="en" sz="1500">
                <a:solidFill>
                  <a:srgbClr val="FFD966"/>
                </a:solidFill>
                <a:latin typeface="Merriweather"/>
                <a:ea typeface="Merriweather"/>
                <a:cs typeface="Merriweather"/>
                <a:sym typeface="Merriweather"/>
              </a:rPr>
              <a:t> sellers and safety </a:t>
            </a:r>
            <a:r>
              <a:rPr lang="en" sz="1500">
                <a:solidFill>
                  <a:srgbClr val="FFD966"/>
                </a:solidFill>
                <a:latin typeface="Merriweather"/>
                <a:ea typeface="Merriweather"/>
                <a:cs typeface="Merriweather"/>
                <a:sym typeface="Merriweather"/>
              </a:rPr>
              <a:t>hazards. Our goal is to provide</a:t>
            </a:r>
            <a:r>
              <a:rPr lang="en" sz="1500">
                <a:solidFill>
                  <a:srgbClr val="FFD966"/>
                </a:solidFill>
                <a:latin typeface="Merriweather"/>
                <a:ea typeface="Merriweather"/>
                <a:cs typeface="Merriweather"/>
                <a:sym typeface="Merriweather"/>
              </a:rPr>
              <a:t> UNCG students with a marketplace platform that guarantees safety, reliability and gives back to the UNCG community</a:t>
            </a:r>
            <a:endParaRPr sz="2100">
              <a:solidFill>
                <a:srgbClr val="FFD9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4" name="Google Shape;84;p16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GenieMart is a mobile marketplace app exclusive to UNCG students, allowing them to post items for sale, connect with other members through messaging, and safely exchange products in person</a:t>
            </a:r>
            <a:endParaRPr b="1"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Students will be able to create a GenieMart account using </a:t>
            </a:r>
            <a:r>
              <a:rPr b="1" lang="en" sz="1400"/>
              <a:t>their email address </a:t>
            </a:r>
            <a:endParaRPr b="1" sz="1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Students will be able to browse various products for sale posted by other students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/>
              <a:t>GenieMart allows students to safely anf securely exchange products and give back to their university’s community</a:t>
            </a:r>
            <a:endParaRPr b="1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88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1804825" y="1985850"/>
            <a:ext cx="5334900" cy="117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00"/>
              <a:t>How it was accomplished</a:t>
            </a:r>
            <a:endParaRPr sz="3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GenieMart Requirements</a:t>
            </a:r>
            <a:endParaRPr/>
          </a:p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451850" y="1289250"/>
            <a:ext cx="8520600" cy="3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Mobile App Development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Full Stack Development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API Integration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Database Management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Cloud Deployment &amp; Hosting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User Authentication &amp; Security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File/Image Storage Handling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Cross-Platform Compatibility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Version control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97975" y="1396100"/>
            <a:ext cx="4335300" cy="37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Framework</a:t>
            </a:r>
            <a:endParaRPr b="1"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218C9D"/>
                </a:solidFill>
                <a:latin typeface="Arial"/>
                <a:ea typeface="Arial"/>
                <a:cs typeface="Arial"/>
                <a:sym typeface="Arial"/>
              </a:rPr>
              <a:t>Programming Language:</a:t>
            </a: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Python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framework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Is the base of backend interaction, handles model, schema, CRUD, and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 (API endpoints creation and accessing).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SQLAlchemy/Alembic</a:t>
            </a:r>
            <a:endParaRPr b="1"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Uvicorn</a:t>
            </a: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Local development Server.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Render</a:t>
            </a: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Hosting platform for production server.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Dockerized Postgresql Database </a:t>
            </a: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Development Database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Neon Serverless Postgresql</a:t>
            </a: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Production database goes hand in hand with Render,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chosen hosting platform for backend services.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Cloudflare R2 </a:t>
            </a: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Stores and handles the processing of images uploaded by users.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JWT(JSON Web Tokens) </a:t>
            </a: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primary authenticator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PWDLIB</a:t>
            </a: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Password hasher, storing the literal password in a database is not secure,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therefore all passwords must be hashed.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PyJWT</a:t>
            </a:r>
            <a:r>
              <a:rPr lang="en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JSON web token encoder and decoder.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325"/>
          </a:p>
        </p:txBody>
      </p:sp>
      <p:sp>
        <p:nvSpPr>
          <p:cNvPr id="102" name="Google Shape;102;p19"/>
          <p:cNvSpPr txBox="1"/>
          <p:nvPr>
            <p:ph idx="2" type="body"/>
          </p:nvPr>
        </p:nvSpPr>
        <p:spPr>
          <a:xfrm>
            <a:off x="4618800" y="1396100"/>
            <a:ext cx="42135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 Framework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8C9D"/>
                </a:solidFill>
                <a:latin typeface="Arial"/>
                <a:ea typeface="Arial"/>
                <a:cs typeface="Arial"/>
                <a:sym typeface="Arial"/>
              </a:rPr>
              <a:t>Programming Language: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Typescript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 Native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Multiplatform UI framework for mobile development.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Framework that provided mobile development tools.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‣ Camera roll access and camera access provided by the expo framework allow for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upload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Expo-Router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File-based routing framework, provided our tab based in app navigation.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Platform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Mobile Application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IOS and Android compatible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Genre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 Multi-Vender Meetup Marketplace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539725"/>
            <a:ext cx="85206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Functionality</a:t>
            </a:r>
            <a:endParaRPr/>
          </a:p>
        </p:txBody>
      </p:sp>
      <p:pic>
        <p:nvPicPr>
          <p:cNvPr id="108" name="Google Shape;108;p20" title="Screenshot 2026-04-26 at 3.23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375" y="1466000"/>
            <a:ext cx="1782525" cy="200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4250" y="1578038"/>
            <a:ext cx="2934026" cy="17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>
            <p:ph type="title"/>
          </p:nvPr>
        </p:nvSpPr>
        <p:spPr>
          <a:xfrm>
            <a:off x="255925" y="3646250"/>
            <a:ext cx="38466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Overlook GenieMart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Manage users, listings, reports</a:t>
            </a:r>
            <a:endParaRPr sz="1400"/>
          </a:p>
        </p:txBody>
      </p:sp>
      <p:sp>
        <p:nvSpPr>
          <p:cNvPr id="111" name="Google Shape;111;p20"/>
          <p:cNvSpPr txBox="1"/>
          <p:nvPr>
            <p:ph type="title"/>
          </p:nvPr>
        </p:nvSpPr>
        <p:spPr>
          <a:xfrm>
            <a:off x="4694600" y="3646275"/>
            <a:ext cx="38466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Post item listings, interact with other users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Screenshot 2026-04-26 at 3.12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1197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 title="Screenshot 2026-04-26 at 3.13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9975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88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</a:t>
            </a:r>
            <a:r>
              <a:rPr lang="en"/>
              <a:t>Workload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505700"/>
            <a:ext cx="26220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Eduardo Herrera-Barraza </a:t>
            </a:r>
            <a:endParaRPr b="1"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Document Maintainer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Backend(First Iteration)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Frontend(UI)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‣ User interactive views (splash Screen, login/signup,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profile settings)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‣ Admin interactive views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Procurement of storage services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 txBox="1"/>
          <p:nvPr>
            <p:ph idx="2" type="body"/>
          </p:nvPr>
        </p:nvSpPr>
        <p:spPr>
          <a:xfrm>
            <a:off x="6049725" y="1505700"/>
            <a:ext cx="27828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Jared Martinez-Sanchez 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Backend(Major Revamp and Final Iteration)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Frontend(UI)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‣ Interactive Messaging (API calls based Messaging)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‣ Major UI Cleanup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Email Verification system setup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6000" y="1505700"/>
            <a:ext cx="27324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Lily Nguyen 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Document Co-Maintainer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Marketing Strategy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Backend(First Iteration)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Frontend(UI)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‣ User and Hardware interactive View (Main Listings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page, More Info, and Listings Creator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23975" y="2258850"/>
            <a:ext cx="3706500" cy="6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We Faced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4644675" y="500925"/>
            <a:ext cx="4166400" cy="42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Char char="●"/>
            </a:pPr>
            <a:r>
              <a:rPr lang="en" sz="2000">
                <a:latin typeface="Merriweather"/>
                <a:ea typeface="Merriweather"/>
                <a:cs typeface="Merriweather"/>
                <a:sym typeface="Merriweather"/>
              </a:rPr>
              <a:t>All of our first times doing mobile development</a:t>
            </a:r>
            <a:endParaRPr sz="2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Char char="●"/>
            </a:pPr>
            <a:r>
              <a:rPr lang="en" sz="2000">
                <a:latin typeface="Merriweather"/>
                <a:ea typeface="Merriweather"/>
                <a:cs typeface="Merriweather"/>
                <a:sym typeface="Merriweather"/>
              </a:rPr>
              <a:t>Having the app </a:t>
            </a:r>
            <a:r>
              <a:rPr lang="en" sz="2000">
                <a:latin typeface="Merriweather"/>
                <a:ea typeface="Merriweather"/>
                <a:cs typeface="Merriweather"/>
                <a:sym typeface="Merriweather"/>
              </a:rPr>
              <a:t>function</a:t>
            </a:r>
            <a:r>
              <a:rPr lang="en" sz="2000"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" sz="2000">
                <a:latin typeface="Merriweather"/>
                <a:ea typeface="Merriweather"/>
                <a:cs typeface="Merriweather"/>
                <a:sym typeface="Merriweather"/>
              </a:rPr>
              <a:t>efficiently</a:t>
            </a:r>
            <a:r>
              <a:rPr lang="en" sz="2000">
                <a:latin typeface="Merriweather"/>
                <a:ea typeface="Merriweather"/>
                <a:cs typeface="Merriweather"/>
                <a:sym typeface="Merriweather"/>
              </a:rPr>
              <a:t> – picture loading, account loading etc</a:t>
            </a:r>
            <a:endParaRPr sz="2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Char char="●"/>
            </a:pPr>
            <a:r>
              <a:rPr lang="en" sz="2000">
                <a:latin typeface="Merriweather"/>
                <a:ea typeface="Merriweather"/>
                <a:cs typeface="Merriweather"/>
                <a:sym typeface="Merriweather"/>
              </a:rPr>
              <a:t>Incorporating cloud-based services (Cloudflare and Render) to help manage deployment, storage and networking more efficiently </a:t>
            </a:r>
            <a:endParaRPr sz="2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88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23975" y="2182275"/>
            <a:ext cx="3706500" cy="7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Coursework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Merriweather"/>
              <a:buChar char="●"/>
            </a:pPr>
            <a:r>
              <a:rPr lang="en" sz="2200">
                <a:latin typeface="Merriweather"/>
                <a:ea typeface="Merriweather"/>
                <a:cs typeface="Merriweather"/>
                <a:sym typeface="Merriweather"/>
              </a:rPr>
              <a:t>Software Engineering (CSC 340)</a:t>
            </a:r>
            <a:endParaRPr sz="22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Merriweather"/>
              <a:buChar char="●"/>
            </a:pPr>
            <a:r>
              <a:rPr lang="en" sz="2200">
                <a:latin typeface="Merriweather"/>
                <a:ea typeface="Merriweather"/>
                <a:cs typeface="Merriweather"/>
                <a:sym typeface="Merriweather"/>
              </a:rPr>
              <a:t>Principles of Database Systems (CSC 471)</a:t>
            </a:r>
            <a:endParaRPr sz="22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Merriweather"/>
              <a:buChar char="●"/>
            </a:pPr>
            <a:r>
              <a:rPr lang="en" sz="2200">
                <a:latin typeface="Merriweather"/>
                <a:ea typeface="Merriweather"/>
                <a:cs typeface="Merriweather"/>
                <a:sym typeface="Merriweather"/>
              </a:rPr>
              <a:t>Data Structures and Algorithms (CSC 230 &amp; 330)</a:t>
            </a:r>
            <a:endParaRPr sz="22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88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813600" y="1432825"/>
            <a:ext cx="7516800" cy="14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App Features and Use Cases</a:t>
            </a:r>
            <a:endParaRPr sz="3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911800" y="2169975"/>
            <a:ext cx="2517300" cy="7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Features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en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Create a GenieMart account with email verification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en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Browse and search listings by category or keyword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en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Post items for sale with up to 8 photos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en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Built-in messaging between users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en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User profile management: edit listings, manage favorites, edit user info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8" title="Screenshot 2026-04-26 at 3.14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262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539725"/>
            <a:ext cx="8520600" cy="7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Result and Future Plans</a:t>
            </a:r>
            <a:endParaRPr/>
          </a:p>
        </p:txBody>
      </p:sp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1334725"/>
            <a:ext cx="8520600" cy="3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GenieMart is a fully </a:t>
            </a:r>
            <a:r>
              <a:rPr lang="en" sz="2600"/>
              <a:t>functioning</a:t>
            </a:r>
            <a:r>
              <a:rPr lang="en" sz="2600"/>
              <a:t> app where UNCG’s community can sign up using their </a:t>
            </a:r>
            <a:r>
              <a:rPr lang="en" sz="2600"/>
              <a:t>email</a:t>
            </a:r>
            <a:r>
              <a:rPr lang="en" sz="2600"/>
              <a:t> and safely post, </a:t>
            </a:r>
            <a:r>
              <a:rPr lang="en" sz="2600"/>
              <a:t>communicate, exchange and interact with others of their community. Future plans and goals include integrating GoogleMapsAPI for a map of listings around campus and to incorporate payment features.</a:t>
            </a:r>
            <a:endParaRPr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539725"/>
            <a:ext cx="8520600" cy="3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GenieMart 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